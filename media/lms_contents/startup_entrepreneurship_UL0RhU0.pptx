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Typical Raise (USD $M)</c:v>
                </c:pt>
              </c:strCache>
            </c:strRef>
          </c:tx>
          <c:spPr>
            <a:solidFill>
              <a:srgbClr val="1F7A8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F1F38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7A8C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F7A8C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4622A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F4622A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0F1F38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Pre-Seed</c:v>
                  </c:pt>
                  <c:pt idx="1">
                    <c:v>Seed</c:v>
                  </c:pt>
                  <c:pt idx="2">
                    <c:v>Series A</c:v>
                  </c:pt>
                  <c:pt idx="3">
                    <c:v>Series B</c:v>
                  </c:pt>
                  <c:pt idx="4">
                    <c:v>Series C+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0.25</c:v>
                </c:pt>
                <c:pt idx="1">
                  <c:v>2</c:v>
                </c:pt>
                <c:pt idx="2">
                  <c:v>10</c:v>
                </c:pt>
                <c:pt idx="3">
                  <c:v>30</c:v>
                </c:pt>
                <c:pt idx="4">
                  <c:v>100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F1F38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F1F3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DE3E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A8D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4F6F8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F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4622A"/>
          </a:solidFill>
          <a:ln w="12700">
            <a:solidFill>
              <a:srgbClr val="F4622A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0" y="457200"/>
            <a:ext cx="1645920" cy="1645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65760" y="100584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200" b="1" spc="4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IDEA</a:t>
            </a:r>
            <a:endParaRPr lang="en-US" sz="5200" dirty="0"/>
          </a:p>
        </p:txBody>
      </p:sp>
      <p:sp>
        <p:nvSpPr>
          <p:cNvPr id="5" name="Text 2"/>
          <p:cNvSpPr/>
          <p:nvPr/>
        </p:nvSpPr>
        <p:spPr>
          <a:xfrm>
            <a:off x="365760" y="18288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200" b="1" spc="400" kern="0" dirty="0">
                <a:solidFill>
                  <a:srgbClr val="F462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 EMPIRE</a:t>
            </a:r>
            <a:endParaRPr lang="en-US" sz="5200" dirty="0"/>
          </a:p>
        </p:txBody>
      </p:sp>
      <p:sp>
        <p:nvSpPr>
          <p:cNvPr id="6" name="Text 3"/>
          <p:cNvSpPr/>
          <p:nvPr/>
        </p:nvSpPr>
        <p:spPr>
          <a:xfrm>
            <a:off x="365760" y="28346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DD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Startup Journey — Building Something That Lasts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365760" y="43891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Entrepreneurship Masterclass  |  2025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F1F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We'll Cover Today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393192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94360" y="11887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188720" y="1207008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Mindset of a Founder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901952"/>
            <a:ext cx="393192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9933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88720" y="201168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a Problem Worth Solving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2706624"/>
            <a:ext cx="393192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279806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188720" y="2816352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Validating Your Idea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3511296"/>
            <a:ext cx="393192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94360" y="360273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188720" y="3621024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Your Business Model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709160" y="1097280"/>
            <a:ext cx="393192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846320" y="11887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440680" y="1207008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Funding — Bootstrapping vs. Investors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709160" y="1901952"/>
            <a:ext cx="393192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0" y="19933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440680" y="201168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a Team That Believes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709160" y="2706624"/>
            <a:ext cx="393192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846320" y="279806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440680" y="2816352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Growth, Marketing &amp; Traction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709160" y="3511296"/>
            <a:ext cx="393192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846320" y="360273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440680" y="3621024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Milestones &amp; the Road Ahead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F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Founder Mindset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DD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not about the idea. It's about who you become in the process.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20040" y="1508760"/>
            <a:ext cx="1920240" cy="3063240"/>
          </a:xfrm>
          <a:prstGeom prst="rect">
            <a:avLst/>
          </a:prstGeom>
          <a:solidFill>
            <a:srgbClr val="162845"/>
          </a:solidFill>
          <a:ln w="12700">
            <a:solidFill>
              <a:srgbClr val="1F7A8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1691640"/>
            <a:ext cx="502920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11480" y="233172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4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Bias to Action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11480" y="2834640"/>
            <a:ext cx="173736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D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 beats perfect. Ship early, learn fast.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2468880" y="1508760"/>
            <a:ext cx="1920240" cy="3063240"/>
          </a:xfrm>
          <a:prstGeom prst="rect">
            <a:avLst/>
          </a:prstGeom>
          <a:solidFill>
            <a:srgbClr val="162845"/>
          </a:solidFill>
          <a:ln w="12700">
            <a:solidFill>
              <a:srgbClr val="1F7A8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4680" y="1691640"/>
            <a:ext cx="502920" cy="5029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2560320" y="233172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4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Resilience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2560320" y="2834640"/>
            <a:ext cx="173736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D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founder hits walls. The ones who win push through.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4617720" y="1508760"/>
            <a:ext cx="1920240" cy="3063240"/>
          </a:xfrm>
          <a:prstGeom prst="rect">
            <a:avLst/>
          </a:prstGeom>
          <a:solidFill>
            <a:srgbClr val="162845"/>
          </a:solidFill>
          <a:ln w="12700">
            <a:solidFill>
              <a:srgbClr val="1F7A8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0" y="1691640"/>
            <a:ext cx="502920" cy="50292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709160" y="233172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4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Clarity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4709160" y="2834640"/>
            <a:ext cx="173736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D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exactly where you're heading — even when the path is foggy.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6766560" y="1508760"/>
            <a:ext cx="1920240" cy="3063240"/>
          </a:xfrm>
          <a:prstGeom prst="rect">
            <a:avLst/>
          </a:prstGeom>
          <a:solidFill>
            <a:srgbClr val="162845"/>
          </a:solidFill>
          <a:ln w="12700">
            <a:solidFill>
              <a:srgbClr val="1F7A8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52360" y="1691640"/>
            <a:ext cx="502920" cy="50292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858000" y="233172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4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Frugality</a:t>
            </a:r>
            <a:endParaRPr lang="en-US" sz="1300" dirty="0"/>
          </a:p>
        </p:txBody>
      </p:sp>
      <p:sp>
        <p:nvSpPr>
          <p:cNvPr id="19" name="Text 13"/>
          <p:cNvSpPr/>
          <p:nvPr/>
        </p:nvSpPr>
        <p:spPr>
          <a:xfrm>
            <a:off x="6858000" y="2834640"/>
            <a:ext cx="173736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D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 every dollar like it's your last. It might be.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F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Start With a Real Problem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3200400" cy="3566160"/>
          </a:xfrm>
          <a:prstGeom prst="rect">
            <a:avLst/>
          </a:prstGeom>
          <a:solidFill>
            <a:srgbClr val="0F1F38"/>
          </a:solidFill>
          <a:ln w="12700">
            <a:solidFill>
              <a:srgbClr val="0F1F3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48640" y="1280160"/>
            <a:ext cx="3017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462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42%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548640" y="2423160"/>
            <a:ext cx="30175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startups fail because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build something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nobody actually wants.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420624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CB Insights, 2024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931920" y="100584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yourself three questions first: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931920" y="1554480"/>
            <a:ext cx="49377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069080" y="1627632"/>
            <a:ext cx="365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462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526280" y="1627632"/>
            <a:ext cx="4251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this a real pain — or just an inconvenience?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0F1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bigger the frustration, the bigger the opportunity.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931920" y="2670048"/>
            <a:ext cx="49377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069080" y="2743200"/>
            <a:ext cx="365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462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526280" y="2743200"/>
            <a:ext cx="4251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are people solving it today?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0F1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there's no workaround at all, people may have already given up.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931920" y="3785616"/>
            <a:ext cx="49377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069080" y="3858768"/>
            <a:ext cx="365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462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3.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4526280" y="3858768"/>
            <a:ext cx="4251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Would you personally pay to fix this?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0F1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Founders who build for themselves often find the sharpest product-market fit.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F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Validate Before You Build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founders skip this. Most founders fail. The connection is not a coincidence.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265176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371600"/>
            <a:ext cx="2651760" cy="411480"/>
          </a:xfrm>
          <a:prstGeom prst="rect">
            <a:avLst/>
          </a:prstGeom>
          <a:solidFill>
            <a:srgbClr val="F4622A"/>
          </a:solidFill>
          <a:ln w="12700">
            <a:solidFill>
              <a:srgbClr val="F462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41732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66928" y="1920240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Talk to 30 people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66928" y="2514600"/>
            <a:ext cx="24231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your friends. Not your mom. Talk to strangers who have the problem. Listen 80%, talk 20%.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337560" y="1371600"/>
            <a:ext cx="265176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337560" y="1371600"/>
            <a:ext cx="2651760" cy="411480"/>
          </a:xfrm>
          <a:prstGeom prst="rect">
            <a:avLst/>
          </a:prstGeom>
          <a:solidFill>
            <a:srgbClr val="F4622A"/>
          </a:solidFill>
          <a:ln w="12700">
            <a:solidFill>
              <a:srgbClr val="F4622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83280" y="141732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447288" y="1920240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landing page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447288" y="2514600"/>
            <a:ext cx="24231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the solution simply. Add a 'Sign up for early access' button. Run $50 in ads. See if anyone clicks.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217920" y="1371600"/>
            <a:ext cx="265176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217920" y="1371600"/>
            <a:ext cx="2651760" cy="411480"/>
          </a:xfrm>
          <a:prstGeom prst="rect">
            <a:avLst/>
          </a:prstGeom>
          <a:solidFill>
            <a:srgbClr val="F4622A"/>
          </a:solidFill>
          <a:ln w="12700">
            <a:solidFill>
              <a:srgbClr val="F4622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63640" y="141732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327648" y="1920240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 money early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327648" y="2514600"/>
            <a:ext cx="24231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someone won't pay for it now, they won't pay later. A letter of intent or a pre-order proves real demand.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F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Business Model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DD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great product with no revenue model is a hobby, not a business.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65760" y="1417320"/>
            <a:ext cx="1965960" cy="3200400"/>
          </a:xfrm>
          <a:prstGeom prst="rect">
            <a:avLst/>
          </a:prstGeom>
          <a:solidFill>
            <a:srgbClr val="1A2F52"/>
          </a:solidFill>
          <a:ln w="12700">
            <a:solidFill>
              <a:srgbClr val="1F7A8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1554480"/>
            <a:ext cx="548640" cy="5486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2194560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4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SaaS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57200" y="2697480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Recurring subscription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3246120"/>
            <a:ext cx="17830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DD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Shopify, Slack, HubSpot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2514600" y="1417320"/>
            <a:ext cx="1965960" cy="3200400"/>
          </a:xfrm>
          <a:prstGeom prst="rect">
            <a:avLst/>
          </a:prstGeom>
          <a:solidFill>
            <a:srgbClr val="1A2F52"/>
          </a:solidFill>
          <a:ln w="12700">
            <a:solidFill>
              <a:srgbClr val="1F7A8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0" y="1554480"/>
            <a:ext cx="548640" cy="54864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606040" y="2194560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4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Marketplace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2606040" y="2697480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Commission per transaction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2606040" y="3246120"/>
            <a:ext cx="17830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DD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Airbnb, Etsy, Fiverr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4663440" y="1417320"/>
            <a:ext cx="1965960" cy="3200400"/>
          </a:xfrm>
          <a:prstGeom prst="rect">
            <a:avLst/>
          </a:prstGeom>
          <a:solidFill>
            <a:srgbClr val="1A2F52"/>
          </a:solidFill>
          <a:ln w="12700">
            <a:solidFill>
              <a:srgbClr val="1F7A8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49240" y="1554480"/>
            <a:ext cx="548640" cy="54864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4754880" y="2194560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4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Freemium</a:t>
            </a:r>
            <a:endParaRPr lang="en-US" sz="1400" dirty="0"/>
          </a:p>
        </p:txBody>
      </p:sp>
      <p:sp>
        <p:nvSpPr>
          <p:cNvPr id="17" name="Text 12"/>
          <p:cNvSpPr/>
          <p:nvPr/>
        </p:nvSpPr>
        <p:spPr>
          <a:xfrm>
            <a:off x="4754880" y="2697480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tier → paid upgrade</a:t>
            </a:r>
            <a:endParaRPr lang="en-US" sz="1100" dirty="0"/>
          </a:p>
        </p:txBody>
      </p:sp>
      <p:sp>
        <p:nvSpPr>
          <p:cNvPr id="18" name="Text 13"/>
          <p:cNvSpPr/>
          <p:nvPr/>
        </p:nvSpPr>
        <p:spPr>
          <a:xfrm>
            <a:off x="4754880" y="3246120"/>
            <a:ext cx="17830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DD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Spotify, Notion, Dropbox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6812280" y="1417320"/>
            <a:ext cx="1965960" cy="3200400"/>
          </a:xfrm>
          <a:prstGeom prst="rect">
            <a:avLst/>
          </a:prstGeom>
          <a:solidFill>
            <a:srgbClr val="1A2F52"/>
          </a:solidFill>
          <a:ln w="12700">
            <a:solidFill>
              <a:srgbClr val="1F7A8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8080" y="1554480"/>
            <a:ext cx="548640" cy="54864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6903720" y="2194560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4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Sales</a:t>
            </a:r>
            <a:endParaRPr lang="en-US" sz="1400" dirty="0"/>
          </a:p>
        </p:txBody>
      </p:sp>
      <p:sp>
        <p:nvSpPr>
          <p:cNvPr id="22" name="Text 16"/>
          <p:cNvSpPr/>
          <p:nvPr/>
        </p:nvSpPr>
        <p:spPr>
          <a:xfrm>
            <a:off x="6903720" y="2697480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High-touch enterprise deals</a:t>
            </a:r>
            <a:endParaRPr lang="en-US" sz="1100" dirty="0"/>
          </a:p>
        </p:txBody>
      </p:sp>
      <p:sp>
        <p:nvSpPr>
          <p:cNvPr id="23" name="Text 17"/>
          <p:cNvSpPr/>
          <p:nvPr/>
        </p:nvSpPr>
        <p:spPr>
          <a:xfrm>
            <a:off x="6903720" y="3246120"/>
            <a:ext cx="17830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DD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Salesforce, Palantir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F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Funding Your Startup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4114800" cy="3794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960120"/>
            <a:ext cx="4114800" cy="548640"/>
          </a:xfrm>
          <a:prstGeom prst="rect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00584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Bootstrapping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1627632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own everything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0116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Advantages: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2331720"/>
            <a:ext cx="37490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control over decisions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F1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pressure from outside boards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F1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Forces real revenue focus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F1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Profitable from day one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333756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out for: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3611880"/>
            <a:ext cx="3749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can be slower  ·  Personal financial risk  ·  Limited resources for big bets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937760" y="960120"/>
            <a:ext cx="4114800" cy="3794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937760" y="960120"/>
            <a:ext cx="4114800" cy="548640"/>
          </a:xfrm>
          <a:prstGeom prst="rect">
            <a:avLst/>
          </a:prstGeom>
          <a:solidFill>
            <a:srgbClr val="F4622A"/>
          </a:solidFill>
          <a:ln w="12700">
            <a:solidFill>
              <a:srgbClr val="F4622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0" y="100584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Venture Capital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120640" y="1627632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scale faster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120640" y="20116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Advantages: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120640" y="2331720"/>
            <a:ext cx="37490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 runway for growth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F1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advice &amp; network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F1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credibility boost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F1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Hire aggressively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120640" y="333756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out for: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120640" y="3611880"/>
            <a:ext cx="3749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Dilution of equity  ·  Pressure to grow at all costs  ·  Investors have board seats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F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Typical Funding Stages</a:t>
            </a:r>
            <a:endParaRPr lang="en-US" sz="34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1005840"/>
          <a:ext cx="8229600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F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Building a Team That Believes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DD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first 10 hires will define your culture for the next 10 years.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Founding Team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3840480" cy="777240"/>
          </a:xfrm>
          <a:prstGeom prst="rect">
            <a:avLst/>
          </a:prstGeom>
          <a:solidFill>
            <a:srgbClr val="1A2F52"/>
          </a:solidFill>
          <a:ln w="12700">
            <a:solidFill>
              <a:srgbClr val="1F7A8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874520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Visionary (CEO)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94360" y="2167128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Sets direction, sells the dream, takes responsibility.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743200"/>
            <a:ext cx="3840480" cy="777240"/>
          </a:xfrm>
          <a:prstGeom prst="rect">
            <a:avLst/>
          </a:prstGeom>
          <a:solidFill>
            <a:srgbClr val="1A2F52"/>
          </a:solidFill>
          <a:ln w="12700">
            <a:solidFill>
              <a:srgbClr val="1F7A8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2788920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Builder (CTO)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94360" y="3081528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Turns the idea into a real product people can use.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3657600"/>
            <a:ext cx="3840480" cy="777240"/>
          </a:xfrm>
          <a:prstGeom prst="rect">
            <a:avLst/>
          </a:prstGeom>
          <a:solidFill>
            <a:srgbClr val="1A2F52"/>
          </a:solidFill>
          <a:ln w="12700">
            <a:solidFill>
              <a:srgbClr val="1F7A8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3703320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Seller (CMO/Sales)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94360" y="3995928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Finds customers and converts them into believers.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663440" y="137160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Matters Most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663440" y="1828800"/>
            <a:ext cx="4160520" cy="530352"/>
          </a:xfrm>
          <a:prstGeom prst="rect">
            <a:avLst/>
          </a:prstGeom>
          <a:solidFill>
            <a:srgbClr val="1A2F52"/>
          </a:solidFill>
          <a:ln w="12700">
            <a:solidFill>
              <a:srgbClr val="1F7A8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54880" y="1874520"/>
            <a:ext cx="274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4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074920" y="1874520"/>
            <a:ext cx="3611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Hire for attitude, train for skill — character is non-negotiable.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663440" y="2414016"/>
            <a:ext cx="4160520" cy="530352"/>
          </a:xfrm>
          <a:prstGeom prst="rect">
            <a:avLst/>
          </a:prstGeom>
          <a:solidFill>
            <a:srgbClr val="1A2F52"/>
          </a:solidFill>
          <a:ln w="12700">
            <a:solidFill>
              <a:srgbClr val="1F7A8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54880" y="2459736"/>
            <a:ext cx="274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4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074920" y="2459736"/>
            <a:ext cx="3611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Hire people who are smarter than you in their lane.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663440" y="2999232"/>
            <a:ext cx="4160520" cy="530352"/>
          </a:xfrm>
          <a:prstGeom prst="rect">
            <a:avLst/>
          </a:prstGeom>
          <a:solidFill>
            <a:srgbClr val="1A2F52"/>
          </a:solidFill>
          <a:ln w="12700">
            <a:solidFill>
              <a:srgbClr val="1F7A8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54880" y="3044952"/>
            <a:ext cx="274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4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074920" y="3044952"/>
            <a:ext cx="3611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Culture fit matters, but avoid echo chambers of identical thinking.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663440" y="3584448"/>
            <a:ext cx="4160520" cy="530352"/>
          </a:xfrm>
          <a:prstGeom prst="rect">
            <a:avLst/>
          </a:prstGeom>
          <a:solidFill>
            <a:srgbClr val="1A2F52"/>
          </a:solidFill>
          <a:ln w="12700">
            <a:solidFill>
              <a:srgbClr val="1F7A8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54880" y="3630168"/>
            <a:ext cx="274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4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074920" y="3630168"/>
            <a:ext cx="3611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slow on the first 3 hires. Move faster once the culture is set.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663440" y="4169664"/>
            <a:ext cx="4160520" cy="530352"/>
          </a:xfrm>
          <a:prstGeom prst="rect">
            <a:avLst/>
          </a:prstGeom>
          <a:solidFill>
            <a:srgbClr val="1A2F52"/>
          </a:solidFill>
          <a:ln w="12700">
            <a:solidFill>
              <a:srgbClr val="1F7A8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54880" y="4215384"/>
            <a:ext cx="274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4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074920" y="4215384"/>
            <a:ext cx="3611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Equity alignment is not optional — everyone rows the same boat.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F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Growth, Marketing &amp; Traction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402336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234440"/>
            <a:ext cx="50292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34440" y="123444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Marketing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1234440" y="1673352"/>
            <a:ext cx="31089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authority. Great content compounds over time and attracts the right buyers to you — rather than you chasing them.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4800600" y="1051560"/>
            <a:ext cx="402336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1234440"/>
            <a:ext cx="502920" cy="50292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577840" y="123444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Building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5577840" y="1673352"/>
            <a:ext cx="31089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users who feel ownership become your most powerful sales force. Give them a reason to evangelize.</a:t>
            </a:r>
            <a:endParaRPr lang="en-US" sz="1150" dirty="0"/>
          </a:p>
        </p:txBody>
      </p:sp>
      <p:sp>
        <p:nvSpPr>
          <p:cNvPr id="11" name="Shape 7"/>
          <p:cNvSpPr/>
          <p:nvPr/>
        </p:nvSpPr>
        <p:spPr>
          <a:xfrm>
            <a:off x="457200" y="3017520"/>
            <a:ext cx="402336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3200400"/>
            <a:ext cx="502920" cy="50292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234440" y="320040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 Acquisition</a:t>
            </a:r>
            <a:endParaRPr lang="en-US" sz="1400" dirty="0"/>
          </a:p>
        </p:txBody>
      </p:sp>
      <p:sp>
        <p:nvSpPr>
          <p:cNvPr id="14" name="Text 9"/>
          <p:cNvSpPr/>
          <p:nvPr/>
        </p:nvSpPr>
        <p:spPr>
          <a:xfrm>
            <a:off x="1234440" y="3639312"/>
            <a:ext cx="31089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you know your CAC and LTV, paid ads become a money machine. Don't run ads before you understand unit economics.</a:t>
            </a:r>
            <a:endParaRPr lang="en-US" sz="1150" dirty="0"/>
          </a:p>
        </p:txBody>
      </p:sp>
      <p:sp>
        <p:nvSpPr>
          <p:cNvPr id="15" name="Shape 10"/>
          <p:cNvSpPr/>
          <p:nvPr/>
        </p:nvSpPr>
        <p:spPr>
          <a:xfrm>
            <a:off x="4800600" y="3017520"/>
            <a:ext cx="402336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3200400"/>
            <a:ext cx="502920" cy="50292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5577840" y="320040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Product-Led Growth</a:t>
            </a:r>
            <a:endParaRPr lang="en-US" sz="1400" dirty="0"/>
          </a:p>
        </p:txBody>
      </p:sp>
      <p:sp>
        <p:nvSpPr>
          <p:cNvPr id="18" name="Text 12"/>
          <p:cNvSpPr/>
          <p:nvPr/>
        </p:nvSpPr>
        <p:spPr>
          <a:xfrm>
            <a:off x="5577840" y="3639312"/>
            <a:ext cx="31089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the product sell itself. Free tiers, viral loops, and referral mechanics can drive exponential user growth without a large sales team.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F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Metrics That Actually Matter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can't measure it, you can't manage it — or pitch it.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365760" y="1325880"/>
            <a:ext cx="274320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417320"/>
            <a:ext cx="1005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462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MRR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02920" y="196596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Recurring Revenue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228600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beating heart of any subscription business. Investors live and die by this number.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291840" y="1325880"/>
            <a:ext cx="274320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429000" y="1417320"/>
            <a:ext cx="1005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462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CAC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3429000" y="196596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Acquisition Cost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429000" y="228600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much do you spend to win one customer? Must be well below LTV.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217920" y="1325880"/>
            <a:ext cx="274320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355080" y="1417320"/>
            <a:ext cx="1005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462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LTV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6355080" y="196596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Lifetime Value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355080" y="228600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 a customer generates over their entire relationship with you.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65760" y="3063240"/>
            <a:ext cx="274320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02920" y="3154680"/>
            <a:ext cx="1005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462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NPS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502920" y="370332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Promoter Score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02920" y="402336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customers love you enough to tell others? Above 50 is world-class.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291840" y="3063240"/>
            <a:ext cx="274320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3429000" y="3154680"/>
            <a:ext cx="1005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462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Churn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3429000" y="370332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Churn Rate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429000" y="402336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silent killer. 5%+ monthly churn means you're filling a leaky bucket.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217920" y="3063240"/>
            <a:ext cx="274320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355080" y="3154680"/>
            <a:ext cx="1005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462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NRR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6355080" y="370332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Revenue Retention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355080" y="402336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Above 100% means existing customers are spending more each year. Pure gold for investors.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F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Startup Timeline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DD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stage has different goals, different risks, and different definitions of success.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2286000"/>
            <a:ext cx="8229600" cy="54864"/>
          </a:xfrm>
          <a:prstGeom prst="rect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4672" y="2084832"/>
            <a:ext cx="457200" cy="457200"/>
          </a:xfrm>
          <a:prstGeom prst="ellipse">
            <a:avLst/>
          </a:prstGeom>
          <a:solidFill>
            <a:srgbClr val="F4622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28016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4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0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1627632"/>
            <a:ext cx="1188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 &amp;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587752" y="2084832"/>
            <a:ext cx="457200" cy="457200"/>
          </a:xfrm>
          <a:prstGeom prst="ellipse">
            <a:avLst/>
          </a:prstGeom>
          <a:solidFill>
            <a:srgbClr val="1F7A8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40280" y="274320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4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3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240280" y="3063240"/>
            <a:ext cx="1188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Launched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416552" y="2084832"/>
            <a:ext cx="457200" cy="457200"/>
          </a:xfrm>
          <a:prstGeom prst="ellipse">
            <a:avLst/>
          </a:prstGeom>
          <a:solidFill>
            <a:srgbClr val="1F7A8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069080" y="128016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4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9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069080" y="1627632"/>
            <a:ext cx="1188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100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245352" y="2084832"/>
            <a:ext cx="457200" cy="457200"/>
          </a:xfrm>
          <a:prstGeom prst="ellipse">
            <a:avLst/>
          </a:prstGeom>
          <a:solidFill>
            <a:srgbClr val="1F7A8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897880" y="274320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4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18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897880" y="3063240"/>
            <a:ext cx="1188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Round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8074152" y="2084832"/>
            <a:ext cx="457200" cy="457200"/>
          </a:xfrm>
          <a:prstGeom prst="ellipse">
            <a:avLst/>
          </a:prstGeom>
          <a:solidFill>
            <a:srgbClr val="1F7A8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26680" y="128016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4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3+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726680" y="1627632"/>
            <a:ext cx="1188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Series A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F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Mistakes Most Founders Make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good news: nearly every mistake is avoidable if you've seen it coming.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365760" y="1325880"/>
            <a:ext cx="416052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325880"/>
            <a:ext cx="73152" cy="1097280"/>
          </a:xfrm>
          <a:prstGeom prst="rect">
            <a:avLst/>
          </a:prstGeom>
          <a:solidFill>
            <a:srgbClr val="D9364F"/>
          </a:solidFill>
          <a:ln w="12700">
            <a:solidFill>
              <a:srgbClr val="D9364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417320"/>
            <a:ext cx="3886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Building in stealth too long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48640" y="1828800"/>
            <a:ext cx="3886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→ Talk to customers before you write a single line of code.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800600" y="1325880"/>
            <a:ext cx="416052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800600" y="1325880"/>
            <a:ext cx="73152" cy="1097280"/>
          </a:xfrm>
          <a:prstGeom prst="rect">
            <a:avLst/>
          </a:prstGeom>
          <a:solidFill>
            <a:srgbClr val="D9364F"/>
          </a:solidFill>
          <a:ln w="12700">
            <a:solidFill>
              <a:srgbClr val="D9364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83480" y="1417320"/>
            <a:ext cx="3886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Ignoring unit economics early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983480" y="1828800"/>
            <a:ext cx="3886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→ Profitable per transaction first. Scale second.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2560320"/>
            <a:ext cx="416052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2560320"/>
            <a:ext cx="73152" cy="1097280"/>
          </a:xfrm>
          <a:prstGeom prst="rect">
            <a:avLst/>
          </a:prstGeom>
          <a:solidFill>
            <a:srgbClr val="D9364F"/>
          </a:solidFill>
          <a:ln w="12700">
            <a:solidFill>
              <a:srgbClr val="D9364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2651760"/>
            <a:ext cx="3886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Hiring friends, not fits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548640" y="3063240"/>
            <a:ext cx="3886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→ Friendship and competence are separate. You need both.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800600" y="2560320"/>
            <a:ext cx="416052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800600" y="2560320"/>
            <a:ext cx="73152" cy="1097280"/>
          </a:xfrm>
          <a:prstGeom prst="rect">
            <a:avLst/>
          </a:prstGeom>
          <a:solidFill>
            <a:srgbClr val="D9364F"/>
          </a:solidFill>
          <a:ln w="12700">
            <a:solidFill>
              <a:srgbClr val="D9364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83480" y="2651760"/>
            <a:ext cx="3886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Solving investor questions vs. customer problems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983480" y="3063240"/>
            <a:ext cx="3886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→ Investors follow traction. Focus on customers.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65760" y="3794760"/>
            <a:ext cx="416052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794760"/>
            <a:ext cx="73152" cy="1097280"/>
          </a:xfrm>
          <a:prstGeom prst="rect">
            <a:avLst/>
          </a:prstGeom>
          <a:solidFill>
            <a:srgbClr val="D9364F"/>
          </a:solidFill>
          <a:ln w="12700">
            <a:solidFill>
              <a:srgbClr val="D9364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3886200"/>
            <a:ext cx="3886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Underpricing out of fear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48640" y="4297680"/>
            <a:ext cx="3886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→ Cheap price signals cheap product. Test higher pricing.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800600" y="3794760"/>
            <a:ext cx="416052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800600" y="3794760"/>
            <a:ext cx="73152" cy="1097280"/>
          </a:xfrm>
          <a:prstGeom prst="rect">
            <a:avLst/>
          </a:prstGeom>
          <a:solidFill>
            <a:srgbClr val="D9364F"/>
          </a:solidFill>
          <a:ln w="12700">
            <a:solidFill>
              <a:srgbClr val="D9364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83480" y="3886200"/>
            <a:ext cx="3886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No focus — too many features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4983480" y="4297680"/>
            <a:ext cx="3886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→ Nail one thing brilliantly before adding the next.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F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4622A"/>
          </a:solidFill>
          <a:ln w="12700">
            <a:solidFill>
              <a:srgbClr val="F4622A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0" y="365760"/>
            <a:ext cx="1280160" cy="12801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65760" y="41148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best time to start</a:t>
            </a:r>
            <a:endParaRPr lang="en-US" sz="3400" dirty="0"/>
          </a:p>
        </p:txBody>
      </p:sp>
      <p:sp>
        <p:nvSpPr>
          <p:cNvPr id="5" name="Text 2"/>
          <p:cNvSpPr/>
          <p:nvPr/>
        </p:nvSpPr>
        <p:spPr>
          <a:xfrm>
            <a:off x="365760" y="105156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462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was yesterday.</a:t>
            </a:r>
            <a:endParaRPr lang="en-US" sz="3400" dirty="0"/>
          </a:p>
        </p:txBody>
      </p:sp>
      <p:sp>
        <p:nvSpPr>
          <p:cNvPr id="6" name="Text 3"/>
          <p:cNvSpPr/>
          <p:nvPr/>
        </p:nvSpPr>
        <p:spPr>
          <a:xfrm>
            <a:off x="365760" y="169164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second best time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365760" y="2304288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is right now.</a:t>
            </a:r>
            <a:endParaRPr lang="en-US" sz="3400" dirty="0"/>
          </a:p>
        </p:txBody>
      </p:sp>
      <p:sp>
        <p:nvSpPr>
          <p:cNvPr id="8" name="Text 5"/>
          <p:cNvSpPr/>
          <p:nvPr/>
        </p:nvSpPr>
        <p:spPr>
          <a:xfrm>
            <a:off x="365760" y="3127248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D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Entrepreneurship doesn't wait for perfect conditions. It rewards the people brave enough to move first, fail fast, and keep going anyway. The fundamentals in this deck are your starting point — but your story is yours to write.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365760" y="4224528"/>
            <a:ext cx="2743200" cy="640080"/>
          </a:xfrm>
          <a:prstGeom prst="rect">
            <a:avLst/>
          </a:prstGeom>
          <a:solidFill>
            <a:srgbClr val="F4622A"/>
          </a:solidFill>
          <a:ln w="12700">
            <a:solidFill>
              <a:srgbClr val="F462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457200" y="4270248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Talk to 5 potential customers this week.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3291840" y="4224528"/>
            <a:ext cx="2743200" cy="640080"/>
          </a:xfrm>
          <a:prstGeom prst="rect">
            <a:avLst/>
          </a:prstGeom>
          <a:solidFill>
            <a:srgbClr val="F4622A"/>
          </a:solidFill>
          <a:ln w="12700">
            <a:solidFill>
              <a:srgbClr val="F462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3383280" y="4270248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one-page business plan.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6217920" y="4224528"/>
            <a:ext cx="2743200" cy="640080"/>
          </a:xfrm>
          <a:prstGeom prst="rect">
            <a:avLst/>
          </a:prstGeom>
          <a:solidFill>
            <a:srgbClr val="F4622A"/>
          </a:solidFill>
          <a:ln w="12700">
            <a:solidFill>
              <a:srgbClr val="F462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6309360" y="4270248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something — even if it's just a landing page.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From Idea to Empire — The Startup Journey</dc:title>
  <dc:subject>PptxGenJS Presentation</dc:subject>
  <dc:creator>PptxGenJS</dc:creator>
  <cp:lastModifiedBy>PptxGenJS</cp:lastModifiedBy>
  <cp:revision>1</cp:revision>
  <dcterms:created xsi:type="dcterms:W3CDTF">2026-05-09T15:42:24Z</dcterms:created>
  <dcterms:modified xsi:type="dcterms:W3CDTF">2026-05-09T15:42:24Z</dcterms:modified>
</cp:coreProperties>
</file>